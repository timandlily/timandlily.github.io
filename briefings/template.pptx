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7556500" cy="10693400"/>
  <p:notesSz cx="6858000" cy="9144000"/>
  <p:embeddedFontLst>
    <p:embeddedFont>
      <p:font typeface="Source Han Sans KR Bold" charset="1" panose="020B0800000000000000"/>
      <p:regular r:id="rId9"/>
    </p:embeddedFont>
    <p:embeddedFont>
      <p:font typeface="Source Han Sans KR" charset="1" panose="020B0400000000000000"/>
      <p:regular r:id="rId10"/>
    </p:embeddedFont>
    <p:embeddedFont>
      <p:font typeface="Source Han Sans KR Medium" charset="1" panose="020B06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281617" y="-1380203"/>
            <a:ext cx="7110647" cy="7110647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098" t="0" r="-25095" b="2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4286250" y="2000250"/>
            <a:ext cx="3038933" cy="3038933"/>
            <a:chOff x="0" y="0"/>
            <a:chExt cx="63500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C94539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24425" y="2394357"/>
            <a:ext cx="1733780" cy="236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15"/>
              </a:lnSpc>
            </a:pPr>
            <a:r>
              <a:rPr lang="en-US" b="true" sz="617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20</a:t>
            </a:r>
          </a:p>
          <a:p>
            <a:pPr algn="ctr">
              <a:lnSpc>
                <a:spcPts val="6115"/>
              </a:lnSpc>
            </a:pPr>
            <a:r>
              <a:rPr lang="en-US" b="true" sz="6177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30</a:t>
            </a:r>
          </a:p>
          <a:p>
            <a:pPr algn="ctr">
              <a:lnSpc>
                <a:spcPts val="6115"/>
              </a:lnSpc>
            </a:pPr>
            <a:r>
              <a:rPr lang="en-US" sz="6177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3791" y="6285707"/>
            <a:ext cx="6354290" cy="2373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60"/>
              </a:lnSpc>
            </a:pPr>
            <a:r>
              <a:rPr lang="en-US" b="true" sz="8000">
                <a:solidFill>
                  <a:srgbClr val="C94539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월간 </a:t>
            </a:r>
          </a:p>
          <a:p>
            <a:pPr algn="l">
              <a:lnSpc>
                <a:spcPts val="9360"/>
              </a:lnSpc>
            </a:pPr>
            <a:r>
              <a:rPr lang="en-US" b="true" sz="8000">
                <a:solidFill>
                  <a:srgbClr val="C94539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보고서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3278" y="8786739"/>
            <a:ext cx="3876675" cy="283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6"/>
              </a:lnSpc>
            </a:pPr>
            <a:r>
              <a:rPr lang="en-US" b="true" sz="1800" spc="270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제공: 세븐 미디어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76900" y="571500"/>
            <a:ext cx="2152430" cy="2152430"/>
          </a:xfrm>
          <a:custGeom>
            <a:avLst/>
            <a:gdLst/>
            <a:ahLst/>
            <a:cxnLst/>
            <a:rect r="r" b="b" t="t" l="l"/>
            <a:pathLst>
              <a:path h="2152430" w="2152430">
                <a:moveTo>
                  <a:pt x="0" y="0"/>
                </a:moveTo>
                <a:lnTo>
                  <a:pt x="2152430" y="0"/>
                </a:lnTo>
                <a:lnTo>
                  <a:pt x="2152430" y="2152430"/>
                </a:lnTo>
                <a:lnTo>
                  <a:pt x="0" y="21524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1" t="0" r="-271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019661" y="8377337"/>
            <a:ext cx="2841120" cy="2841120"/>
          </a:xfrm>
          <a:custGeom>
            <a:avLst/>
            <a:gdLst/>
            <a:ahLst/>
            <a:cxnLst/>
            <a:rect r="r" b="b" t="t" l="l"/>
            <a:pathLst>
              <a:path h="2841120" w="2841120">
                <a:moveTo>
                  <a:pt x="0" y="0"/>
                </a:moveTo>
                <a:lnTo>
                  <a:pt x="2841121" y="0"/>
                </a:lnTo>
                <a:lnTo>
                  <a:pt x="2841121" y="2841121"/>
                </a:lnTo>
                <a:lnTo>
                  <a:pt x="0" y="28411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1" t="0" r="-27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3753" y="9924712"/>
            <a:ext cx="3898101" cy="171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b="true" sz="1323" spc="198">
                <a:solidFill>
                  <a:srgbClr val="C94539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www.umchungjoeun.kr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501379" y="9606035"/>
            <a:ext cx="1889240" cy="188924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C94539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396985" y="231307"/>
            <a:ext cx="2608355" cy="260835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C9453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6755" y="1291529"/>
            <a:ext cx="6354290" cy="759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8"/>
              </a:lnSpc>
            </a:pPr>
            <a:r>
              <a:rPr lang="en-US" b="true" sz="5600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목차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36321" y="-1143806"/>
            <a:ext cx="2152430" cy="2152430"/>
          </a:xfrm>
          <a:custGeom>
            <a:avLst/>
            <a:gdLst/>
            <a:ahLst/>
            <a:cxnLst/>
            <a:rect r="r" b="b" t="t" l="l"/>
            <a:pathLst>
              <a:path h="2152430" w="2152430">
                <a:moveTo>
                  <a:pt x="0" y="0"/>
                </a:moveTo>
                <a:lnTo>
                  <a:pt x="2152430" y="0"/>
                </a:lnTo>
                <a:lnTo>
                  <a:pt x="2152430" y="2152430"/>
                </a:lnTo>
                <a:lnTo>
                  <a:pt x="0" y="2152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t="0" r="-271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09600" y="3633325"/>
            <a:ext cx="3041638" cy="2498950"/>
            <a:chOff x="0" y="0"/>
            <a:chExt cx="4055518" cy="333193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931333" y="212970"/>
              <a:ext cx="3115718" cy="228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9"/>
                </a:lnSpc>
              </a:pPr>
              <a:r>
                <a:rPr lang="en-US" sz="1203" b="true">
                  <a:solidFill>
                    <a:srgbClr val="FFFFF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회사 프로필 • 역사 및 미션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47625"/>
              <a:ext cx="762000" cy="57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1"/>
                </a:lnSpc>
              </a:pPr>
              <a:r>
                <a:rPr lang="en-US" b="true" sz="3088">
                  <a:solidFill>
                    <a:srgbClr val="C94539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02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939800" y="1118904"/>
              <a:ext cx="3115718" cy="228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9"/>
                </a:lnSpc>
              </a:pPr>
              <a:r>
                <a:rPr lang="en-US" sz="1203" b="true">
                  <a:solidFill>
                    <a:srgbClr val="FFFFF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회사 월간 성장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8467" y="953558"/>
              <a:ext cx="762000" cy="57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1"/>
                </a:lnSpc>
              </a:pPr>
              <a:r>
                <a:rPr lang="en-US" b="true" sz="3088">
                  <a:solidFill>
                    <a:srgbClr val="C94539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06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31333" y="2006970"/>
              <a:ext cx="3115718" cy="228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9"/>
                </a:lnSpc>
              </a:pPr>
              <a:r>
                <a:rPr lang="en-US" sz="1203" b="true">
                  <a:solidFill>
                    <a:srgbClr val="FFFFF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현재 개발 상황에 대한 요약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841625"/>
              <a:ext cx="762000" cy="57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1"/>
                </a:lnSpc>
              </a:pPr>
              <a:r>
                <a:rPr lang="en-US" b="true" sz="3088">
                  <a:solidFill>
                    <a:srgbClr val="C94539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08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939800" y="2912904"/>
              <a:ext cx="3115718" cy="228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9"/>
                </a:lnSpc>
              </a:pPr>
              <a:r>
                <a:rPr lang="en-US" sz="1203" b="true">
                  <a:solidFill>
                    <a:srgbClr val="FFFFF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간략한 프로젝트 정보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67" y="2747558"/>
              <a:ext cx="762000" cy="57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1"/>
                </a:lnSpc>
              </a:pPr>
              <a:r>
                <a:rPr lang="en-US" b="true" sz="3088">
                  <a:solidFill>
                    <a:srgbClr val="C94539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10</a:t>
              </a: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466850" y="7486650"/>
            <a:ext cx="4077974" cy="4077974"/>
            <a:chOff x="0" y="0"/>
            <a:chExt cx="6350000" cy="63499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25098" t="0" r="-25095" b="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911600" y="3633325"/>
            <a:ext cx="3041638" cy="2498950"/>
            <a:chOff x="0" y="0"/>
            <a:chExt cx="4055518" cy="333193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931333" y="212970"/>
              <a:ext cx="3115718" cy="228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9"/>
                </a:lnSpc>
              </a:pPr>
              <a:r>
                <a:rPr lang="en-US" sz="1203" b="true">
                  <a:solidFill>
                    <a:srgbClr val="FFFFF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월간 미디어 및 재무 포트폴리오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7625"/>
              <a:ext cx="762000" cy="57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1"/>
                </a:lnSpc>
              </a:pPr>
              <a:r>
                <a:rPr lang="en-US" b="true" sz="3088">
                  <a:solidFill>
                    <a:srgbClr val="C94539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14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939800" y="1118904"/>
              <a:ext cx="3115718" cy="228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9"/>
                </a:lnSpc>
              </a:pPr>
              <a:r>
                <a:rPr lang="en-US" sz="1203" b="true">
                  <a:solidFill>
                    <a:srgbClr val="FFFFF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월간 성과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467" y="953558"/>
              <a:ext cx="762000" cy="57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1"/>
                </a:lnSpc>
              </a:pPr>
              <a:r>
                <a:rPr lang="en-US" b="true" sz="3088">
                  <a:solidFill>
                    <a:srgbClr val="C94539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18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931333" y="2006970"/>
              <a:ext cx="3115718" cy="228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9"/>
                </a:lnSpc>
              </a:pPr>
              <a:r>
                <a:rPr lang="en-US" sz="1203" b="true">
                  <a:solidFill>
                    <a:srgbClr val="FFFFF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미래 회사 발전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841625"/>
              <a:ext cx="762000" cy="57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1"/>
                </a:lnSpc>
              </a:pPr>
              <a:r>
                <a:rPr lang="en-US" b="true" sz="3088">
                  <a:solidFill>
                    <a:srgbClr val="C94539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22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39800" y="2912904"/>
              <a:ext cx="3115718" cy="2283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39"/>
                </a:lnSpc>
              </a:pPr>
              <a:r>
                <a:rPr lang="en-US" sz="1203" b="true">
                  <a:solidFill>
                    <a:srgbClr val="FFFFFF"/>
                  </a:solidFill>
                  <a:latin typeface="Source Han Sans KR Medium"/>
                  <a:ea typeface="Source Han Sans KR Medium"/>
                  <a:cs typeface="Source Han Sans KR Medium"/>
                  <a:sym typeface="Source Han Sans KR Medium"/>
                </a:rPr>
                <a:t>회장 연설 • 마무리 인사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8467" y="2747558"/>
              <a:ext cx="762000" cy="574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81"/>
                </a:lnSpc>
              </a:pPr>
              <a:r>
                <a:rPr lang="en-US" b="true" sz="3088">
                  <a:solidFill>
                    <a:srgbClr val="C94539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25</a:t>
              </a:r>
            </a:p>
          </p:txBody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4425922" y="7126684"/>
            <a:ext cx="2527405" cy="2527405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C94539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6150300" y="8696325"/>
            <a:ext cx="1657777" cy="1657777"/>
          </a:xfrm>
          <a:custGeom>
            <a:avLst/>
            <a:gdLst/>
            <a:ahLst/>
            <a:cxnLst/>
            <a:rect r="r" b="b" t="t" l="l"/>
            <a:pathLst>
              <a:path h="1657777" w="1657777">
                <a:moveTo>
                  <a:pt x="0" y="0"/>
                </a:moveTo>
                <a:lnTo>
                  <a:pt x="1657777" y="0"/>
                </a:lnTo>
                <a:lnTo>
                  <a:pt x="1657777" y="1657777"/>
                </a:lnTo>
                <a:lnTo>
                  <a:pt x="0" y="16577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t="0" r="-271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6115050" y="582707"/>
            <a:ext cx="838200" cy="12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29"/>
              </a:lnSpc>
            </a:pPr>
            <a:r>
              <a:rPr lang="en-US" b="true" sz="999" spc="99">
                <a:solidFill>
                  <a:srgbClr val="FFFF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내용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4749800" y="-1092200"/>
            <a:ext cx="2942693" cy="2942693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C9453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6900" y="1039912"/>
            <a:ext cx="555307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월간 재무</a:t>
            </a:r>
          </a:p>
          <a:p>
            <a:pPr algn="l">
              <a:lnSpc>
                <a:spcPts val="6720"/>
              </a:lnSpc>
            </a:pPr>
            <a:r>
              <a:rPr lang="en-US" b="true" sz="5600">
                <a:solidFill>
                  <a:srgbClr val="000000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발전 보고서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341821" y="703321"/>
            <a:ext cx="2152430" cy="2152430"/>
          </a:xfrm>
          <a:custGeom>
            <a:avLst/>
            <a:gdLst/>
            <a:ahLst/>
            <a:cxnLst/>
            <a:rect r="r" b="b" t="t" l="l"/>
            <a:pathLst>
              <a:path h="2152430" w="2152430">
                <a:moveTo>
                  <a:pt x="0" y="0"/>
                </a:moveTo>
                <a:lnTo>
                  <a:pt x="2152430" y="0"/>
                </a:lnTo>
                <a:lnTo>
                  <a:pt x="2152430" y="2152430"/>
                </a:lnTo>
                <a:lnTo>
                  <a:pt x="0" y="2152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t="0" r="-27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4234" y="610544"/>
            <a:ext cx="838200" cy="12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9"/>
              </a:lnSpc>
            </a:pPr>
            <a:r>
              <a:rPr lang="en-US" b="true" sz="999" spc="99">
                <a:solidFill>
                  <a:srgbClr val="000000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페이지 14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5626" y="2985640"/>
            <a:ext cx="3615294" cy="3481394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657187" y="5772763"/>
            <a:ext cx="3640647" cy="3662556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96900" y="6974119"/>
            <a:ext cx="3012745" cy="146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차트 2.2는 2020년 3월 대비 매출이 16%</a:t>
            </a:r>
          </a:p>
          <a:p>
            <a:pPr algn="r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증가했음을 보여주는 4월 순이익을 보여줍니다. </a:t>
            </a:r>
          </a:p>
          <a:p>
            <a:pPr algn="r">
              <a:lnSpc>
                <a:spcPts val="1679"/>
              </a:lnSpc>
            </a:pPr>
          </a:p>
          <a:p>
            <a:pPr algn="r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총이익 계산에 포함되지 않은 작업비가</a:t>
            </a:r>
          </a:p>
          <a:p>
            <a:pPr algn="r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지급된 후의 실제 수익을 뜻합니다. 판매는</a:t>
            </a:r>
          </a:p>
          <a:p>
            <a:pPr algn="r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구매자가 유형 또는 무형의 재화, 용역을</a:t>
            </a:r>
          </a:p>
          <a:p>
            <a:pPr algn="r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제공받는 두 당사자 간의 거래입니다.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62400" y="3874801"/>
            <a:ext cx="3000375" cy="167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도표 2.1은 2020년 4월 순이익의 성장을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보여줍니다. </a:t>
            </a:r>
          </a:p>
          <a:p>
            <a:pPr algn="l">
              <a:lnSpc>
                <a:spcPts val="1679"/>
              </a:lnSpc>
            </a:pP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순이익이란 자사 제품의 제조 및 판매와 관련된 비용 또는 서비스 제공과 관련된 비용을 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차감하고 회사가 벌어들인 수익입니다. 그리고 구매자는 돈을 지불하고 그 대신 유형 또는 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무형의 재화, 서비스 및/또는 자산을 받습니다.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-808647" y="8870227"/>
            <a:ext cx="2942693" cy="2942693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-14231" y="-32"/>
              <a:ext cx="6378462" cy="6350064"/>
            </a:xfrm>
            <a:custGeom>
              <a:avLst/>
              <a:gdLst/>
              <a:ahLst/>
              <a:cxnLst/>
              <a:rect r="r" b="b" t="t" l="l"/>
              <a:pathLst>
                <a:path h="6350064" w="6378462">
                  <a:moveTo>
                    <a:pt x="3189231" y="32"/>
                  </a:moveTo>
                  <a:lnTo>
                    <a:pt x="3189231" y="32"/>
                  </a:lnTo>
                  <a:cubicBezTo>
                    <a:pt x="2051530" y="-5056"/>
                    <a:pt x="998068" y="598980"/>
                    <a:pt x="427743" y="1583419"/>
                  </a:cubicBezTo>
                  <a:cubicBezTo>
                    <a:pt x="-142581" y="2567857"/>
                    <a:pt x="-142581" y="3782207"/>
                    <a:pt x="427743" y="4766645"/>
                  </a:cubicBezTo>
                  <a:cubicBezTo>
                    <a:pt x="998068" y="5751084"/>
                    <a:pt x="2051530" y="6355120"/>
                    <a:pt x="3189231" y="6350032"/>
                  </a:cubicBezTo>
                  <a:cubicBezTo>
                    <a:pt x="4326932" y="6355120"/>
                    <a:pt x="5380395" y="5751084"/>
                    <a:pt x="5950719" y="4766645"/>
                  </a:cubicBezTo>
                  <a:cubicBezTo>
                    <a:pt x="6521043" y="3782207"/>
                    <a:pt x="6521043" y="2567857"/>
                    <a:pt x="5950719" y="1583419"/>
                  </a:cubicBezTo>
                  <a:cubicBezTo>
                    <a:pt x="5380395" y="598980"/>
                    <a:pt x="4326932" y="-5056"/>
                    <a:pt x="3189231" y="32"/>
                  </a:cubicBezTo>
                  <a:close/>
                </a:path>
              </a:pathLst>
            </a:custGeom>
            <a:solidFill>
              <a:srgbClr val="C94539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50696" y="9447271"/>
            <a:ext cx="2152430" cy="2152430"/>
          </a:xfrm>
          <a:custGeom>
            <a:avLst/>
            <a:gdLst/>
            <a:ahLst/>
            <a:cxnLst/>
            <a:rect r="r" b="b" t="t" l="l"/>
            <a:pathLst>
              <a:path h="2152430" w="2152430">
                <a:moveTo>
                  <a:pt x="0" y="0"/>
                </a:moveTo>
                <a:lnTo>
                  <a:pt x="2152430" y="0"/>
                </a:lnTo>
                <a:lnTo>
                  <a:pt x="2152430" y="2152430"/>
                </a:lnTo>
                <a:lnTo>
                  <a:pt x="0" y="2152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71" t="0" r="-27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DAHHgcDm568</dc:identifier>
  <dcterms:modified xsi:type="dcterms:W3CDTF">2011-08-01T06:04:30Z</dcterms:modified>
  <cp:revision>1</cp:revision>
  <dc:title>빨간색 검은색 원 깔끔한 모던한 전문적인 기업 사진 월간 보고서</dc:title>
</cp:coreProperties>
</file>